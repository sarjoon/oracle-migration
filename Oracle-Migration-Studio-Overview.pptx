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56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11C"/>
          </a:solidFill>
          <a:ln>
            <a:solidFill>
              <a:srgbClr val="191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320C1B"/>
          </a:solidFill>
          <a:ln>
            <a:solidFill>
              <a:srgbClr val="320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5212080" cy="11704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3500" b="1" i="0">
                <a:solidFill>
                  <a:srgbClr val="FFFFFF"/>
                </a:solidFill>
                <a:latin typeface="Georgia"/>
              </a:rPr>
              <a:t>ORACLE
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48840"/>
            <a:ext cx="41148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FF645B"/>
                </a:solidFill>
                <a:latin typeface="Aptos"/>
              </a:rPr>
              <a:t>MIGRATION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34640"/>
            <a:ext cx="5715000" cy="731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800" b="0" i="0">
                <a:solidFill>
                  <a:srgbClr val="DCDAD5"/>
                </a:solidFill>
                <a:latin typeface="Aptos"/>
              </a:rPr>
              <a:t>A controlled path from SAP Sybase ASE metadata and data
to ordered Oracle migration scripts and evidence-based reconciliation.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977639"/>
            <a:ext cx="3246120" cy="292608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4027931"/>
            <a:ext cx="324612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SPRING BOOT 3  |  ANGULAR 18  |  JAVA 17</a:t>
            </a:r>
          </a:p>
        </p:txBody>
      </p:sp>
      <p:pic>
        <p:nvPicPr>
          <p:cNvPr id="10" name="Picture 9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58368"/>
            <a:ext cx="5074920" cy="2834640"/>
          </a:xfrm>
          <a:prstGeom prst="rect">
            <a:avLst/>
          </a:prstGeom>
        </p:spPr>
      </p:pic>
      <p:pic>
        <p:nvPicPr>
          <p:cNvPr id="11" name="Picture 10" descr="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3776472"/>
            <a:ext cx="4754880" cy="2651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" y="6190488"/>
            <a:ext cx="41148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00" b="1" i="0">
                <a:solidFill>
                  <a:srgbClr val="B7B4B3"/>
                </a:solidFill>
                <a:latin typeface="Aptos"/>
              </a:rPr>
              <a:t>PRODUCT OVERVIEW  /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19672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solidFill>
                  <a:srgbClr val="B7B4B3"/>
                </a:solidFill>
                <a:latin typeface="Aptos"/>
              </a:rPr>
              <a:t>TECH MAHINDRA  /  MIGRATION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1" i="0">
                <a:solidFill>
                  <a:srgbClr val="FF645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solidFill>
              <a:srgbClr val="F8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THE JOB TO BE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60704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i="0">
                <a:solidFill>
                  <a:srgbClr val="1A2126"/>
                </a:solidFill>
                <a:latin typeface="Georgia"/>
              </a:rPr>
              <a:t>Make migration work visible, ordered, and recoverable.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987552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667077"/>
                </a:solidFill>
                <a:latin typeface="Aptos"/>
              </a:rPr>
              <a:t>The studio turns a high-risk database move into a sequence of inspectable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3383280" cy="3337560"/>
          </a:xfrm>
          <a:prstGeom prst="roundRect">
            <a:avLst>
              <a:gd name="adj" fmla="val 8000"/>
            </a:avLst>
          </a:prstGeom>
          <a:solidFill>
            <a:srgbClr val="320C1B"/>
          </a:solidFill>
          <a:ln>
            <a:solidFill>
              <a:srgbClr val="320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404872"/>
            <a:ext cx="914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FF645B"/>
                </a:solidFill>
                <a:latin typeface="Aptos"/>
              </a:rPr>
              <a:t>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61488"/>
            <a:ext cx="2651760" cy="731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Sybase ASE
metadata +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160520"/>
            <a:ext cx="256032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0" i="0">
                <a:solidFill>
                  <a:srgbClr val="E2DCD9"/>
                </a:solidFill>
                <a:latin typeface="Aptos"/>
              </a:rPr>
              <a:t>JDBC metadata discovery
Manual-review boundaries for complex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808" y="3246120"/>
            <a:ext cx="50292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3100" b="1" i="0">
                <a:solidFill>
                  <a:srgbClr val="EC143A"/>
                </a:solidFill>
                <a:latin typeface="Georgi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057400"/>
            <a:ext cx="33832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A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01768" y="2404872"/>
            <a:ext cx="128016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761488"/>
            <a:ext cx="2651760" cy="731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 i="0">
                <a:solidFill>
                  <a:srgbClr val="1A2126"/>
                </a:solidFill>
                <a:latin typeface="Georgia"/>
              </a:rPr>
              <a:t>Migration
Studio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1768" y="4069080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02936" y="3995928"/>
            <a:ext cx="2450591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i="0">
                <a:solidFill>
                  <a:srgbClr val="1A2126"/>
                </a:solidFill>
                <a:latin typeface="Aptos"/>
              </a:rPr>
              <a:t>Reusable connection profiles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1768" y="4480560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02936" y="4407408"/>
            <a:ext cx="2450591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i="0">
                <a:solidFill>
                  <a:srgbClr val="1A2126"/>
                </a:solidFill>
                <a:latin typeface="Aptos"/>
              </a:rPr>
              <a:t>Ordered DDL / DML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01768" y="4892040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02936" y="4818888"/>
            <a:ext cx="2450591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i="0">
                <a:solidFill>
                  <a:srgbClr val="1A2126"/>
                </a:solidFill>
                <a:latin typeface="Aptos"/>
              </a:rPr>
              <a:t>Checkpointed async 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46120"/>
            <a:ext cx="50292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3100" b="1" i="0">
                <a:solidFill>
                  <a:srgbClr val="EC143A"/>
                </a:solidFill>
                <a:latin typeface="Georgia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9952" y="2057400"/>
            <a:ext cx="2743200" cy="3337560"/>
          </a:xfrm>
          <a:prstGeom prst="roundRect">
            <a:avLst>
              <a:gd name="adj" fmla="val 8000"/>
            </a:avLst>
          </a:prstGeom>
          <a:solidFill>
            <a:srgbClr val="238B89"/>
          </a:solidFill>
          <a:ln>
            <a:solidFill>
              <a:srgbClr val="23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0" y="2404872"/>
            <a:ext cx="7315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D0F4EF"/>
                </a:solidFill>
                <a:latin typeface="Aptos"/>
              </a:rPr>
              <a:t>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761488"/>
            <a:ext cx="2011680" cy="731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Oracle
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160520"/>
            <a:ext cx="1920240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ptos"/>
              </a:rPr>
              <a:t>Generated scripts
Quantitative proof
Qualitative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9672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solidFill>
                  <a:srgbClr val="667077"/>
                </a:solidFill>
                <a:latin typeface="Aptos"/>
              </a:rPr>
              <a:t>TECH MAHINDRA  /  MIGRATION STUDIO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1" i="0">
                <a:solidFill>
                  <a:srgbClr val="EC143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solidFill>
              <a:srgbClr val="191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FF645B"/>
                </a:solidFill>
                <a:latin typeface="Aptos"/>
              </a:rPr>
              <a:t>ONE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607040" cy="8494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i="0">
                <a:latin typeface="Georgia"/>
              </a:rPr>
              <a:t>Configure once. Generate in phases. Reconcile with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9875520" cy="2185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 dirty="0">
                <a:latin typeface="Aptos"/>
              </a:rPr>
              <a:t>Each stage leaves an artifact or checkpoint that supports the next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331720" cy="2423160"/>
          </a:xfrm>
          <a:prstGeom prst="roundRect">
            <a:avLst>
              <a:gd name="adj" fmla="val 8000"/>
            </a:avLst>
          </a:prstGeom>
          <a:solidFill>
            <a:srgbClr val="2C222B"/>
          </a:solidFill>
          <a:ln>
            <a:solidFill>
              <a:srgbClr val="51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2331720" cy="73152"/>
          </a:xfrm>
          <a:prstGeom prst="rect">
            <a:avLst/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615184"/>
            <a:ext cx="5029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EC143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1828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03320"/>
            <a:ext cx="182880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DDDAD7"/>
                </a:solidFill>
                <a:latin typeface="Aptos"/>
              </a:rPr>
              <a:t>Source + target
profiles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246120"/>
            <a:ext cx="347472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2000" b="1" i="0">
                <a:solidFill>
                  <a:srgbClr val="9D8F95"/>
                </a:solidFill>
                <a:latin typeface="Georgia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286000"/>
            <a:ext cx="2331720" cy="2423160"/>
          </a:xfrm>
          <a:prstGeom prst="roundRect">
            <a:avLst>
              <a:gd name="adj" fmla="val 8000"/>
            </a:avLst>
          </a:prstGeom>
          <a:solidFill>
            <a:srgbClr val="2C222B"/>
          </a:solidFill>
          <a:ln>
            <a:solidFill>
              <a:srgbClr val="51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2286000"/>
            <a:ext cx="2331720" cy="73152"/>
          </a:xfrm>
          <a:prstGeom prst="rect">
            <a:avLst/>
          </a:prstGeom>
          <a:solidFill>
            <a:srgbClr val="FF645B"/>
          </a:solidFill>
          <a:ln>
            <a:solidFill>
              <a:srgbClr val="FF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94760" y="2615184"/>
            <a:ext cx="5029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FF645B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108960"/>
            <a:ext cx="1828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703320"/>
            <a:ext cx="182880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DDDAD7"/>
                </a:solidFill>
                <a:latin typeface="Aptos"/>
              </a:rPr>
              <a:t>Schema objects
and selections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246120"/>
            <a:ext cx="347472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2000" b="1" i="0">
                <a:solidFill>
                  <a:srgbClr val="9D8F95"/>
                </a:solidFill>
                <a:latin typeface="Georgia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86000"/>
            <a:ext cx="2331720" cy="2423160"/>
          </a:xfrm>
          <a:prstGeom prst="roundRect">
            <a:avLst>
              <a:gd name="adj" fmla="val 8000"/>
            </a:avLst>
          </a:prstGeom>
          <a:solidFill>
            <a:srgbClr val="2C222B"/>
          </a:solidFill>
          <a:ln>
            <a:solidFill>
              <a:srgbClr val="51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2286000"/>
            <a:ext cx="2331720" cy="73152"/>
          </a:xfrm>
          <a:prstGeom prst="rect">
            <a:avLst/>
          </a:prstGeom>
          <a:solidFill>
            <a:srgbClr val="ECB14D"/>
          </a:solidFill>
          <a:ln>
            <a:solidFill>
              <a:srgbClr val="ECB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615184"/>
            <a:ext cx="5029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ECB14D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08960"/>
            <a:ext cx="1828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03320"/>
            <a:ext cx="182880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DDDAD7"/>
                </a:solidFill>
                <a:latin typeface="Aptos"/>
              </a:rPr>
              <a:t>DDL, DML, keys
and indexes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246120"/>
            <a:ext cx="347472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2000" b="1" i="0">
                <a:solidFill>
                  <a:srgbClr val="9D8F95"/>
                </a:solidFill>
                <a:latin typeface="Georgia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286000"/>
            <a:ext cx="2331720" cy="2423160"/>
          </a:xfrm>
          <a:prstGeom prst="roundRect">
            <a:avLst>
              <a:gd name="adj" fmla="val 8000"/>
            </a:avLst>
          </a:prstGeom>
          <a:solidFill>
            <a:srgbClr val="2C222B"/>
          </a:solidFill>
          <a:ln>
            <a:solidFill>
              <a:srgbClr val="514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2286000"/>
            <a:ext cx="2331720" cy="73152"/>
          </a:xfrm>
          <a:prstGeom prst="rect">
            <a:avLst/>
          </a:prstGeom>
          <a:solidFill>
            <a:srgbClr val="238B89"/>
          </a:solidFill>
          <a:ln>
            <a:solidFill>
              <a:srgbClr val="23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64040" y="2615184"/>
            <a:ext cx="5029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00" b="1" i="0">
                <a:solidFill>
                  <a:srgbClr val="238B89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108960"/>
            <a:ext cx="18288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RECONCILE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703320"/>
            <a:ext cx="1828800" cy="56692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DDDAD7"/>
                </a:solidFill>
                <a:latin typeface="Aptos"/>
              </a:rPr>
              <a:t>Counts, mappings
and record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422392"/>
            <a:ext cx="141732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00" b="1" i="0">
                <a:solidFill>
                  <a:srgbClr val="FF645B"/>
                </a:solidFill>
                <a:latin typeface="Aptos"/>
              </a:rPr>
              <a:t>DESIGN PRINCIPLE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1992" y="5367528"/>
            <a:ext cx="8046720" cy="51090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600" b="1" i="0">
                <a:latin typeface="Georgia"/>
              </a:rPr>
              <a:t>Keep credentials ephemeral, keep progress explicit, and keep mismatches actionable.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19672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solidFill>
                  <a:srgbClr val="B7B4B3"/>
                </a:solidFill>
                <a:latin typeface="Aptos"/>
              </a:rPr>
              <a:t>TECH MAHINDRA  /  MIGRATION STUDIO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1" i="0" dirty="0">
                <a:solidFill>
                  <a:srgbClr val="FF645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solidFill>
              <a:srgbClr val="F8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MIGRATION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60704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i="0">
                <a:solidFill>
                  <a:srgbClr val="1A2126"/>
                </a:solidFill>
                <a:latin typeface="Georgia"/>
              </a:rPr>
              <a:t>Generate the right script at the right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987552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667077"/>
                </a:solidFill>
                <a:latin typeface="Aptos"/>
              </a:rPr>
              <a:t>Base DDL, data inserts, and deferred constraints are separated to protect execution order.</a:t>
            </a:r>
          </a:p>
        </p:txBody>
      </p:sp>
      <p:pic>
        <p:nvPicPr>
          <p:cNvPr id="6" name="Picture 5" descr="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847088"/>
            <a:ext cx="5029200" cy="2816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148840"/>
            <a:ext cx="20116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THE PHASED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78608"/>
            <a:ext cx="38404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560320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1" i="0">
                <a:solidFill>
                  <a:srgbClr val="1A2126"/>
                </a:solidFill>
                <a:latin typeface="Aptos"/>
              </a:rPr>
              <a:t>Base DDL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834639"/>
            <a:ext cx="466344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 i="0">
                <a:solidFill>
                  <a:srgbClr val="667077"/>
                </a:solidFill>
                <a:latin typeface="Aptos"/>
              </a:rPr>
              <a:t>Tables and views, without dependent keys or indexes.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364991"/>
            <a:ext cx="38404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346703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1" i="0">
                <a:solidFill>
                  <a:srgbClr val="1A2126"/>
                </a:solidFill>
                <a:latin typeface="Aptos"/>
              </a:rPr>
              <a:t>DML inserts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621024"/>
            <a:ext cx="466344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 i="0">
                <a:solidFill>
                  <a:srgbClr val="667077"/>
                </a:solidFill>
                <a:latin typeface="Aptos"/>
              </a:rPr>
              <a:t>Literal INSERT statements, checkpointed by table.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151376"/>
            <a:ext cx="384048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133088"/>
            <a:ext cx="201168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1" i="0">
                <a:solidFill>
                  <a:srgbClr val="1A2126"/>
                </a:solidFill>
                <a:latin typeface="Aptos"/>
              </a:rPr>
              <a:t>Deferred dependencies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626864"/>
            <a:ext cx="466344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150" b="0" i="0" dirty="0">
                <a:solidFill>
                  <a:srgbClr val="667077"/>
                </a:solidFill>
                <a:latin typeface="Aptos"/>
              </a:rPr>
              <a:t>Indexes, primary keys, and foreign keys after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5230368"/>
            <a:ext cx="1097280" cy="292608"/>
          </a:xfrm>
          <a:prstGeom prst="roundRect">
            <a:avLst>
              <a:gd name="adj" fmla="val 8000"/>
            </a:avLst>
          </a:prstGeom>
          <a:solidFill>
            <a:srgbClr val="19111C"/>
          </a:solidFill>
          <a:ln>
            <a:solidFill>
              <a:srgbClr val="191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5280659"/>
            <a:ext cx="109728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ASYNC JOBS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84248" y="5230368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238B89"/>
          </a:solidFill>
          <a:ln>
            <a:solidFill>
              <a:srgbClr val="23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84248" y="5280659"/>
            <a:ext cx="12344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CHECKPOINTS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5230368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320C1B"/>
          </a:solidFill>
          <a:ln>
            <a:solidFill>
              <a:srgbClr val="320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37560" y="5280659"/>
            <a:ext cx="132588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RESUME / RETRY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010912"/>
            <a:ext cx="498348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 i="0">
                <a:solidFill>
                  <a:srgbClr val="1A2126"/>
                </a:solidFill>
                <a:latin typeface="Georgia"/>
              </a:rPr>
              <a:t>The UI refreshes job data every five seconds and shows processed, failed, and completed units.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19672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solidFill>
                  <a:srgbClr val="667077"/>
                </a:solidFill>
                <a:latin typeface="Aptos"/>
              </a:rPr>
              <a:t>TECH MAHINDRA  /  MIGRATION STUDIO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1" i="0">
                <a:solidFill>
                  <a:srgbClr val="EC143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CONNECTION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60704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i="0">
                <a:solidFill>
                  <a:srgbClr val="1A2126"/>
                </a:solidFill>
                <a:latin typeface="Georgia"/>
              </a:rPr>
              <a:t>Reusable profiles without persistent passwords.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987552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667077"/>
                </a:solidFill>
                <a:latin typeface="Aptos"/>
              </a:rPr>
              <a:t>Connection metadata lives in file-based H2; database and keystore passwords stay in process memory.</a:t>
            </a:r>
          </a:p>
        </p:txBody>
      </p:sp>
      <p:pic>
        <p:nvPicPr>
          <p:cNvPr id="6" name="Picture 5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21808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1965960"/>
            <a:ext cx="4754880" cy="2926080"/>
          </a:xfrm>
          <a:prstGeom prst="roundRect">
            <a:avLst>
              <a:gd name="adj" fmla="val 8000"/>
            </a:avLst>
          </a:prstGeom>
          <a:solidFill>
            <a:srgbClr val="F8EFF1"/>
          </a:solidFill>
          <a:ln>
            <a:solidFill>
              <a:srgbClr val="F8EF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304288"/>
            <a:ext cx="20116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SECURITY POSTURE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816352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2743200"/>
            <a:ext cx="386791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1A2126"/>
                </a:solidFill>
                <a:latin typeface="Aptos"/>
              </a:rPr>
              <a:t>Profiles store endpoint, schema, TLS, and authentication selection.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410712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3337560"/>
            <a:ext cx="386791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1A2126"/>
                </a:solidFill>
                <a:latin typeface="Aptos"/>
              </a:rPr>
              <a:t>Users do not enter JDBC URLs; the backend constructs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005072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3931920"/>
            <a:ext cx="386791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1A2126"/>
                </a:solidFill>
                <a:latin typeface="Aptos"/>
              </a:rPr>
              <a:t>Passwords are never written to H2, logs, manifests, or scripts.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76088"/>
            <a:ext cx="1060704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0" i="1">
                <a:solidFill>
                  <a:srgbClr val="667077"/>
                </a:solidFill>
                <a:latin typeface="Aptos"/>
              </a:rPr>
              <a:t>Operational implication: credentials must be re-entered after a JAR restart before resume, retry, or reconciliation.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19672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solidFill>
                  <a:srgbClr val="667077"/>
                </a:solidFill>
                <a:latin typeface="Aptos"/>
              </a:rPr>
              <a:t>TECH MAHINDRA  /  MIGRATION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1" i="0">
                <a:solidFill>
                  <a:srgbClr val="EC143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solidFill>
              <a:srgbClr val="F8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60704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i="0">
                <a:solidFill>
                  <a:srgbClr val="1A2126"/>
                </a:solidFill>
                <a:latin typeface="Georgia"/>
              </a:rPr>
              <a:t>Prove structure first. Then prove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987552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667077"/>
                </a:solidFill>
                <a:latin typeface="Aptos"/>
              </a:rPr>
              <a:t>Quantitative reports expose inventory and count mismatches; qualitative runs compare mapped business records.</a:t>
            </a:r>
          </a:p>
        </p:txBody>
      </p:sp>
      <p:pic>
        <p:nvPicPr>
          <p:cNvPr id="6" name="Picture 5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56816"/>
            <a:ext cx="5230368" cy="2898648"/>
          </a:xfrm>
          <a:prstGeom prst="rect">
            <a:avLst/>
          </a:prstGeom>
        </p:spPr>
      </p:pic>
      <p:pic>
        <p:nvPicPr>
          <p:cNvPr id="7" name="Picture 6" descr="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956816"/>
            <a:ext cx="5230368" cy="28986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96112" y="5065776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238B89"/>
          </a:solidFill>
          <a:ln>
            <a:solidFill>
              <a:srgbClr val="23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5116068"/>
            <a:ext cx="123444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QUANTITATIVE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7712" y="5111496"/>
            <a:ext cx="30175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 i="0">
                <a:solidFill>
                  <a:srgbClr val="1A2126"/>
                </a:solidFill>
                <a:latin typeface="Aptos"/>
              </a:rPr>
              <a:t>Object inventory + COUNT(*)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5065776"/>
            <a:ext cx="1097280" cy="292608"/>
          </a:xfrm>
          <a:prstGeom prst="roundRect">
            <a:avLst>
              <a:gd name="adj" fmla="val 8000"/>
            </a:avLst>
          </a:prstGeom>
          <a:solidFill>
            <a:srgbClr val="320C1B"/>
          </a:solidFill>
          <a:ln>
            <a:solidFill>
              <a:srgbClr val="320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5116068"/>
            <a:ext cx="1097280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QUALITATIVE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5111496"/>
            <a:ext cx="32004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1" i="0">
                <a:solidFill>
                  <a:srgbClr val="1A2126"/>
                </a:solidFill>
                <a:latin typeface="Aptos"/>
              </a:rPr>
              <a:t>Mapped record-level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9672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solidFill>
                  <a:srgbClr val="667077"/>
                </a:solidFill>
                <a:latin typeface="Aptos"/>
              </a:rPr>
              <a:t>TECH MAHINDRA  /  MIGRATION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1" i="0">
                <a:solidFill>
                  <a:srgbClr val="EC143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solidFill>
              <a:srgbClr val="191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FF645B"/>
                </a:solidFill>
                <a:latin typeface="Aptos"/>
              </a:rPr>
              <a:t>EVIDENCE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60704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i="0" dirty="0">
                <a:latin typeface="Georgia"/>
              </a:rPr>
              <a:t>Reports remain reviewable after the run is 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9875520" cy="2185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 dirty="0">
                <a:latin typeface="Aptos"/>
              </a:rPr>
              <a:t>Immutable timestamped JSON and XLSX pairs make results reloadable, shareable, and auditable.</a:t>
            </a:r>
          </a:p>
        </p:txBody>
      </p:sp>
      <p:pic>
        <p:nvPicPr>
          <p:cNvPr id="6" name="Picture 5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83080"/>
            <a:ext cx="5440680" cy="3035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" y="1993392"/>
            <a:ext cx="20116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FF645B"/>
                </a:solidFill>
                <a:latin typeface="Aptos"/>
              </a:rPr>
              <a:t>REPORT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560320"/>
            <a:ext cx="100584" cy="100584"/>
          </a:xfrm>
          <a:prstGeom prst="roundRect">
            <a:avLst>
              <a:gd name="adj" fmla="val 8000"/>
            </a:avLst>
          </a:prstGeom>
          <a:solidFill>
            <a:srgbClr val="FF645B"/>
          </a:solidFill>
          <a:ln>
            <a:solidFill>
              <a:srgbClr val="FF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487168"/>
            <a:ext cx="4599432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i="0">
                <a:latin typeface="Aptos"/>
              </a:rPr>
              <a:t>Summary and source / target header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118104"/>
            <a:ext cx="100584" cy="100584"/>
          </a:xfrm>
          <a:prstGeom prst="roundRect">
            <a:avLst>
              <a:gd name="adj" fmla="val 8000"/>
            </a:avLst>
          </a:prstGeom>
          <a:solidFill>
            <a:srgbClr val="FF645B"/>
          </a:solidFill>
          <a:ln>
            <a:solidFill>
              <a:srgbClr val="FF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4599432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i="0">
                <a:latin typeface="Aptos"/>
              </a:rPr>
              <a:t>Object counts and mismatch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675888"/>
            <a:ext cx="100584" cy="100584"/>
          </a:xfrm>
          <a:prstGeom prst="roundRect">
            <a:avLst>
              <a:gd name="adj" fmla="val 8000"/>
            </a:avLst>
          </a:prstGeom>
          <a:solidFill>
            <a:srgbClr val="FF645B"/>
          </a:solidFill>
          <a:ln>
            <a:solidFill>
              <a:srgbClr val="FF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602736"/>
            <a:ext cx="4599432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i="0">
                <a:latin typeface="Aptos"/>
              </a:rPr>
              <a:t>Record counts with pagination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233672"/>
            <a:ext cx="100584" cy="100584"/>
          </a:xfrm>
          <a:prstGeom prst="roundRect">
            <a:avLst>
              <a:gd name="adj" fmla="val 8000"/>
            </a:avLst>
          </a:prstGeom>
          <a:solidFill>
            <a:srgbClr val="FF645B"/>
          </a:solidFill>
          <a:ln>
            <a:solidFill>
              <a:srgbClr val="FF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160520"/>
            <a:ext cx="4599432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 i="0">
                <a:latin typeface="Aptos"/>
              </a:rPr>
              <a:t>Stored XLSX workbook for download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5138928"/>
            <a:ext cx="4663440" cy="44935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 i="0">
                <a:latin typeface="Georgia"/>
              </a:rPr>
              <a:t>Reload reads existing JSON without querying either database.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9672"/>
            <a:ext cx="50292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latin typeface="Aptos"/>
              </a:rPr>
              <a:t>TECH MAHINDRA  /  MIGRATION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1" i="0">
                <a:solidFill>
                  <a:srgbClr val="FF645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solidFill>
              <a:srgbClr val="F8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IMPLEMENTATION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607040" cy="5943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i="0">
                <a:solidFill>
                  <a:srgbClr val="1A2126"/>
                </a:solidFill>
                <a:latin typeface="Georgia"/>
              </a:rPr>
              <a:t>A focused application boundary with room to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987552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>
                <a:solidFill>
                  <a:srgbClr val="667077"/>
                </a:solidFill>
                <a:latin typeface="Aptos"/>
              </a:rPr>
              <a:t>Angular owns the operator experience; Spring Boot owns orchestration, persistence, and filesystem artifacts.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93392"/>
            <a:ext cx="10287000" cy="621792"/>
          </a:xfrm>
          <a:prstGeom prst="roundRect">
            <a:avLst>
              <a:gd name="adj" fmla="val 8000"/>
            </a:avLst>
          </a:prstGeom>
          <a:solidFill>
            <a:srgbClr val="320C1B"/>
          </a:solidFill>
          <a:ln>
            <a:solidFill>
              <a:srgbClr val="320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093976"/>
            <a:ext cx="24231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FF645B"/>
                </a:solidFill>
                <a:latin typeface="Aptos"/>
              </a:rPr>
              <a:t>OPERATOR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093976"/>
            <a:ext cx="70866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Angular 18 standalone UI  ·  persistent side menu  ·  five-second job 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2624328"/>
            <a:ext cx="2743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 i="0">
                <a:solidFill>
                  <a:srgbClr val="667077"/>
                </a:solidFill>
                <a:latin typeface="Georgia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16352"/>
            <a:ext cx="10287000" cy="621792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916936"/>
            <a:ext cx="24231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APPLICATION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16936"/>
            <a:ext cx="70866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Spring Boot 3  ·  REST APIs  ·  bounded worker pools  ·  memory-only secrets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3447288"/>
            <a:ext cx="2743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 i="0">
                <a:solidFill>
                  <a:srgbClr val="667077"/>
                </a:solidFill>
                <a:latin typeface="Georgia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39312"/>
            <a:ext cx="10287000" cy="621792"/>
          </a:xfrm>
          <a:prstGeom prst="roundRect">
            <a:avLst>
              <a:gd name="adj" fmla="val 8000"/>
            </a:avLst>
          </a:prstGeom>
          <a:solidFill>
            <a:srgbClr val="238B89"/>
          </a:solidFill>
          <a:ln>
            <a:solidFill>
              <a:srgbClr val="238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739896"/>
            <a:ext cx="24231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CFF7F1"/>
                </a:solidFill>
                <a:latin typeface="Aptos"/>
              </a:rPr>
              <a:t>PERSISTENCE +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39896"/>
            <a:ext cx="70866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Flyway-managed H2  ·  JSON / XLSX reports  ·  generated DDL / DML directory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4270248"/>
            <a:ext cx="2743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 i="0">
                <a:solidFill>
                  <a:srgbClr val="667077"/>
                </a:solidFill>
                <a:latin typeface="Georgia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462272"/>
            <a:ext cx="10287000" cy="621792"/>
          </a:xfrm>
          <a:prstGeom prst="roundRect">
            <a:avLst>
              <a:gd name="adj" fmla="val 8000"/>
            </a:avLst>
          </a:prstGeom>
          <a:solidFill>
            <a:srgbClr val="19111C"/>
          </a:solidFill>
          <a:ln>
            <a:solidFill>
              <a:srgbClr val="1911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4562856"/>
            <a:ext cx="24231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CONNECTED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562856"/>
            <a:ext cx="708660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SAP jConnect / Sybase ASE source  ↔  Oracle target JDBC drivers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9672"/>
            <a:ext cx="5029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solidFill>
                  <a:srgbClr val="667077"/>
                </a:solidFill>
                <a:latin typeface="Aptos"/>
              </a:rPr>
              <a:t>TECH MAHINDRA  /  MIGRATION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1" i="0">
                <a:solidFill>
                  <a:srgbClr val="EC143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solidFill>
              <a:srgbClr val="320C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41148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FF645B"/>
                </a:solidFill>
                <a:latin typeface="Aptos"/>
              </a:rPr>
              <a:t>DELIVERY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607040" cy="43396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700" b="1" i="0" dirty="0">
                <a:latin typeface="Georgia"/>
              </a:rPr>
              <a:t>Strong foundation. Explicit next frontier.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9875520" cy="2185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 i="0" dirty="0">
                <a:latin typeface="Aptos"/>
              </a:rPr>
              <a:t>The initial implementation is usable today, with clear manual-review boundaries for production hardening.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029968"/>
            <a:ext cx="4983480" cy="3063240"/>
          </a:xfrm>
          <a:prstGeom prst="roundRect">
            <a:avLst>
              <a:gd name="adj" fmla="val 8000"/>
            </a:avLst>
          </a:prstGeom>
          <a:solidFill>
            <a:srgbClr val="481D2B"/>
          </a:solidFill>
          <a:ln>
            <a:solidFill>
              <a:srgbClr val="6D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359152"/>
            <a:ext cx="18288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FF645B"/>
                </a:solidFill>
                <a:latin typeface="Aptos"/>
              </a:rPr>
              <a:t>WORKING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862072"/>
            <a:ext cx="100584" cy="100584"/>
          </a:xfrm>
          <a:prstGeom prst="roundRect">
            <a:avLst>
              <a:gd name="adj" fmla="val 8000"/>
            </a:avLst>
          </a:prstGeom>
          <a:solidFill>
            <a:srgbClr val="FF645B"/>
          </a:solidFill>
          <a:ln>
            <a:solidFill>
              <a:srgbClr val="FF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52728" y="2788920"/>
            <a:ext cx="395935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Tables, columns, types, INSERTs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328415"/>
            <a:ext cx="100584" cy="100584"/>
          </a:xfrm>
          <a:prstGeom prst="roundRect">
            <a:avLst>
              <a:gd name="adj" fmla="val 8000"/>
            </a:avLst>
          </a:prstGeom>
          <a:solidFill>
            <a:srgbClr val="FF645B"/>
          </a:solidFill>
          <a:ln>
            <a:solidFill>
              <a:srgbClr val="FF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2728" y="3255263"/>
            <a:ext cx="395935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Indexes, primary and foreign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794760"/>
            <a:ext cx="100584" cy="100584"/>
          </a:xfrm>
          <a:prstGeom prst="roundRect">
            <a:avLst>
              <a:gd name="adj" fmla="val 8000"/>
            </a:avLst>
          </a:prstGeom>
          <a:solidFill>
            <a:srgbClr val="FF645B"/>
          </a:solidFill>
          <a:ln>
            <a:solidFill>
              <a:srgbClr val="FF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3721608"/>
            <a:ext cx="395935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Quantitative and qualitative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261104"/>
            <a:ext cx="100584" cy="100584"/>
          </a:xfrm>
          <a:prstGeom prst="roundRect">
            <a:avLst>
              <a:gd name="adj" fmla="val 8000"/>
            </a:avLst>
          </a:prstGeom>
          <a:solidFill>
            <a:srgbClr val="FF645B"/>
          </a:solidFill>
          <a:ln>
            <a:solidFill>
              <a:srgbClr val="FF6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52728" y="4187952"/>
            <a:ext cx="395935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Aptos"/>
              </a:rPr>
              <a:t>Resume, retry, pagination, XLSX export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029968"/>
            <a:ext cx="5303520" cy="3063240"/>
          </a:xfrm>
          <a:prstGeom prst="roundRect">
            <a:avLst>
              <a:gd name="adj" fmla="val 8000"/>
            </a:avLst>
          </a:prstGeom>
          <a:solidFill>
            <a:srgbClr val="F8F6F2"/>
          </a:solidFill>
          <a:ln>
            <a:solidFill>
              <a:srgbClr val="F8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2359152"/>
            <a:ext cx="18288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00" b="1" i="0">
                <a:solidFill>
                  <a:srgbClr val="EC143A"/>
                </a:solidFill>
                <a:latin typeface="Aptos"/>
              </a:rPr>
              <a:t>NEXT FRONTIER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28232" y="2862072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2788920"/>
            <a:ext cx="423367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1A2126"/>
                </a:solidFill>
                <a:latin typeface="Aptos"/>
              </a:rPr>
              <a:t>View bodies, sequences, triggers, procedures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8232" y="3328415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3255263"/>
            <a:ext cx="423367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1A2126"/>
                </a:solidFill>
                <a:latin typeface="Aptos"/>
              </a:rPr>
              <a:t>Synonyms, grants, partitions, computed columns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28232" y="3794760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3721608"/>
            <a:ext cx="423367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1A2126"/>
                </a:solidFill>
                <a:latin typeface="Aptos"/>
              </a:rPr>
              <a:t>Bulk export and chunk-level restart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8232" y="4261104"/>
            <a:ext cx="100584" cy="100584"/>
          </a:xfrm>
          <a:prstGeom prst="roundRect">
            <a:avLst>
              <a:gd name="adj" fmla="val 8000"/>
            </a:avLst>
          </a:prstGeom>
          <a:solidFill>
            <a:srgbClr val="EC143A"/>
          </a:solidFill>
          <a:ln>
            <a:solidFill>
              <a:srgbClr val="EC1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4187952"/>
            <a:ext cx="4233672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 i="0">
                <a:solidFill>
                  <a:srgbClr val="1A2126"/>
                </a:solidFill>
                <a:latin typeface="Aptos"/>
              </a:rPr>
              <a:t>Production-grade binary and LOB conversion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623560"/>
            <a:ext cx="20116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00" b="1" i="0">
                <a:solidFill>
                  <a:srgbClr val="FF645B"/>
                </a:solidFill>
                <a:latin typeface="Aptos"/>
              </a:rPr>
              <a:t>RECOMMENDED NEXT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0632" y="5559552"/>
            <a:ext cx="8686800" cy="44935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 i="0">
                <a:latin typeface="Georgia"/>
              </a:rPr>
              <a:t>Validate against a representative ASE schema, then prioritize the manual-review object classes that matter to the first production wave.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19672"/>
            <a:ext cx="5029200" cy="14157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800" b="1" i="0">
                <a:latin typeface="Aptos"/>
              </a:rPr>
              <a:t>TECH MAHINDRA  /  MIGRATION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/>
            <a:r>
              <a:rPr sz="900" b="1" i="0">
                <a:solidFill>
                  <a:srgbClr val="FF645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703</Words>
  <Application>Microsoft Office PowerPoint</Application>
  <PresentationFormat>Widescreen</PresentationFormat>
  <Paragraphs>129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Migration Studio - Project Overview</dc:title>
  <dc:subject>Sybase ASE to Oracle migration script generation and reconciliation</dc:subject>
  <dc:creator>Migration Studio</dc:creator>
  <cp:keywords>Sybase, Oracle, migration, reconciliation, Spring Boot, Angular</cp:keywords>
  <dc:description>generated using python-pptx</dc:description>
  <cp:lastModifiedBy>Mohamed Sarjoon</cp:lastModifiedBy>
  <cp:revision>2</cp:revision>
  <dcterms:created xsi:type="dcterms:W3CDTF">2013-01-27T09:14:16Z</dcterms:created>
  <dcterms:modified xsi:type="dcterms:W3CDTF">2026-09-04T08:20:24Z</dcterms:modified>
  <cp:category/>
</cp:coreProperties>
</file>